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Cluster 0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Age</c:v>
                </c:pt>
                <c:pt idx="1">
                  <c:v>Income</c:v>
                </c:pt>
                <c:pt idx="2">
                  <c:v>Frequency</c:v>
                </c:pt>
                <c:pt idx="3">
                  <c:v>Avg. value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0.169</c:v>
                </c:pt>
                <c:pt idx="1">
                  <c:v>-0.198</c:v>
                </c:pt>
                <c:pt idx="2">
                  <c:v>0.242</c:v>
                </c:pt>
                <c:pt idx="3">
                  <c:v>0.128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Age</c:v>
                </c:pt>
                <c:pt idx="1">
                  <c:v>Income</c:v>
                </c:pt>
                <c:pt idx="2">
                  <c:v>Frequency</c:v>
                </c:pt>
                <c:pt idx="3">
                  <c:v>Avg. value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-0.342</c:v>
                </c:pt>
                <c:pt idx="1">
                  <c:v>-0.754</c:v>
                </c:pt>
                <c:pt idx="2">
                  <c:v>-0.314</c:v>
                </c:pt>
                <c:pt idx="3">
                  <c:v>0.216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Cluster 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Age</c:v>
                </c:pt>
                <c:pt idx="1">
                  <c:v>Income</c:v>
                </c:pt>
                <c:pt idx="2">
                  <c:v>Frequency</c:v>
                </c:pt>
                <c:pt idx="3">
                  <c:v>Avg. value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0.168</c:v>
                </c:pt>
                <c:pt idx="1">
                  <c:v>0.994</c:v>
                </c:pt>
                <c:pt idx="2">
                  <c:v>0.059</c:v>
                </c:pt>
                <c:pt idx="3">
                  <c:v>-0.363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-1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GOA Supermarket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Customer Clustering &amp; Purchasing Behavior</a:t>
            </a:r>
          </a:p>
          <a:p>
            <a:pPr>
              <a:defRPr sz="1800">
                <a:solidFill>
                  <a:srgbClr val="C3DCDC"/>
                </a:solidFill>
              </a:defRPr>
            </a:pPr>
            <a:r>
              <a:t>Business Analytics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977639"/>
            <a:ext cx="219456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4114800"/>
            <a:ext cx="1920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897B"/>
                </a:solidFill>
              </a:defRPr>
            </a:pPr>
            <a:r>
              <a:t>100</a:t>
            </a:r>
          </a:p>
          <a:p>
            <a:pPr algn="ctr">
              <a:defRPr sz="1200">
                <a:solidFill>
                  <a:srgbClr val="262D35"/>
                </a:solidFill>
              </a:defRPr>
            </a:pPr>
            <a:r>
              <a:t>customer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3977639"/>
            <a:ext cx="219456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79" y="4114800"/>
            <a:ext cx="1920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897B"/>
                </a:solidFill>
              </a:defRPr>
            </a:pPr>
            <a:r>
              <a:t>3</a:t>
            </a:r>
          </a:p>
          <a:p>
            <a:pPr algn="ctr">
              <a:defRPr sz="1200">
                <a:solidFill>
                  <a:srgbClr val="262D35"/>
                </a:solidFill>
              </a:defRPr>
            </a:pPr>
            <a:r>
              <a:t>customer segments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977639"/>
            <a:ext cx="219456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4114800"/>
            <a:ext cx="1920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897B"/>
                </a:solidFill>
              </a:defRPr>
            </a:pPr>
            <a:r>
              <a:t>2</a:t>
            </a:r>
          </a:p>
          <a:p>
            <a:pPr algn="ctr">
              <a:defRPr sz="1200">
                <a:solidFill>
                  <a:srgbClr val="262D35"/>
                </a:solidFill>
              </a:defRPr>
            </a:pPr>
            <a:r>
              <a:t>clustering approaches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977639"/>
            <a:ext cx="219456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114800"/>
            <a:ext cx="1920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897B"/>
                </a:solidFill>
              </a:defRPr>
            </a:pPr>
            <a:r>
              <a:t>5</a:t>
            </a:r>
          </a:p>
          <a:p>
            <a:pPr algn="ctr">
              <a:defRPr sz="1200">
                <a:solidFill>
                  <a:srgbClr val="262D35"/>
                </a:solidFill>
              </a:defRPr>
            </a:pPr>
            <a:r>
              <a:t>key customer variables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Turning customer-level data into actionable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D35"/>
                </a:solidFill>
              </a:defRPr>
            </a:pPr>
            <a:r>
              <a:t>Identify distinct customer groups within the GOA Supermarket dataset.</a:t>
            </a:r>
          </a:p>
          <a:p>
            <a:pPr>
              <a:spcAft>
                <a:spcPts val="1000"/>
              </a:spcAft>
              <a:defRPr sz="2000">
                <a:solidFill>
                  <a:srgbClr val="262D35"/>
                </a:solidFill>
              </a:defRPr>
            </a:pPr>
            <a:r>
              <a:t>Understand differences in age, annual income, purchase frequency, average purchase value, and category preference.</a:t>
            </a:r>
          </a:p>
          <a:p>
            <a:pPr>
              <a:spcAft>
                <a:spcPts val="1000"/>
              </a:spcAft>
              <a:defRPr sz="2000">
                <a:solidFill>
                  <a:srgbClr val="262D35"/>
                </a:solidFill>
              </a:defRPr>
            </a:pPr>
            <a:r>
              <a:t>Provide a data-driven basis for differentiated marketing and customer engagement.</a:t>
            </a:r>
          </a:p>
          <a:p>
            <a:pPr>
              <a:spcAft>
                <a:spcPts val="1000"/>
              </a:spcAft>
              <a:defRPr sz="2000">
                <a:solidFill>
                  <a:srgbClr val="262D35"/>
                </a:solidFill>
              </a:defRPr>
            </a:pPr>
            <a:r>
              <a:t>Support customer-retention planning by identifying different customer types and purchasing patterns.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Data &amp;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GOA Supermarket customer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210312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82879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897B"/>
                </a:solidFill>
              </a:defRPr>
            </a:pPr>
            <a:r>
              <a:t>100</a:t>
            </a:r>
          </a:p>
          <a:p>
            <a:pPr algn="ctr">
              <a:defRPr sz="1200">
                <a:solidFill>
                  <a:srgbClr val="262D35"/>
                </a:solidFill>
              </a:defRPr>
            </a:pPr>
            <a:r>
              <a:t>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2880360"/>
            <a:ext cx="3657600" cy="45720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294436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63F"/>
                </a:solidFill>
              </a:defRPr>
            </a:pPr>
            <a:r>
              <a:t>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944368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Customer demographic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3493008"/>
            <a:ext cx="3657600" cy="45720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3557015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63F"/>
                </a:solidFill>
              </a:defRPr>
            </a:pPr>
            <a:r>
              <a:t>Annual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557015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Economic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4105656"/>
            <a:ext cx="3657600" cy="45720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4169664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63F"/>
                </a:solidFill>
              </a:defRPr>
            </a:pPr>
            <a:r>
              <a:t>Purchase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169664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Shopping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4718304"/>
            <a:ext cx="3657600" cy="45720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47823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63F"/>
                </a:solidFill>
              </a:defRPr>
            </a:pPr>
            <a:r>
              <a:t>Average purchase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782312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Spending behavior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5330952"/>
            <a:ext cx="3657600" cy="45720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53949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63F"/>
                </a:solidFill>
              </a:defRPr>
            </a:pPr>
            <a:r>
              <a:t>Category preference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539496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Product preference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417320"/>
            <a:ext cx="3657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897B"/>
                </a:solidFill>
              </a:defRPr>
            </a:pPr>
            <a:r>
              <a:t>Business need</a:t>
            </a:r>
          </a:p>
          <a:p>
            <a:pPr>
              <a:defRPr sz="1800">
                <a:solidFill>
                  <a:srgbClr val="262D35"/>
                </a:solidFill>
              </a:defRPr>
            </a:pPr>
            <a:r>
              <a:t>Move beyond one-size-fits-all customer targeting.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Analytical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From preparation to interpretable customer segments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508760"/>
            <a:ext cx="530352" cy="530352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9047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3F"/>
                </a:solidFill>
              </a:defRPr>
            </a:pPr>
            <a:r>
              <a:t>Data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47672"/>
            <a:ext cx="2743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Checked data and prepared variables</a:t>
            </a:r>
          </a:p>
        </p:txBody>
      </p:sp>
      <p:sp>
        <p:nvSpPr>
          <p:cNvPr id="8" name="Oval 7"/>
          <p:cNvSpPr/>
          <p:nvPr/>
        </p:nvSpPr>
        <p:spPr>
          <a:xfrm>
            <a:off x="4480559" y="1508760"/>
            <a:ext cx="530352" cy="530352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572768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149047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3F"/>
                </a:solidFill>
              </a:defRPr>
            </a:pPr>
            <a:r>
              <a:t>Outlier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59" y="1947672"/>
            <a:ext cx="2743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Reviewed numerical variables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1508760"/>
            <a:ext cx="530352" cy="530352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572768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49047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3F"/>
                </a:solidFill>
              </a:defRPr>
            </a:pPr>
            <a:r>
              <a:t>Standardization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947672"/>
            <a:ext cx="2743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Scaled numerical features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474720"/>
            <a:ext cx="530352" cy="530352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38727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5643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3F"/>
                </a:solidFill>
              </a:defRPr>
            </a:pPr>
            <a:r>
              <a:t>Encoding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13631"/>
            <a:ext cx="2743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Converted category preference</a:t>
            </a:r>
          </a:p>
        </p:txBody>
      </p:sp>
      <p:sp>
        <p:nvSpPr>
          <p:cNvPr id="20" name="Oval 19"/>
          <p:cNvSpPr/>
          <p:nvPr/>
        </p:nvSpPr>
        <p:spPr>
          <a:xfrm>
            <a:off x="4480559" y="3474720"/>
            <a:ext cx="530352" cy="530352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3538727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345643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3F"/>
                </a:solidFill>
              </a:defRPr>
            </a:pPr>
            <a:r>
              <a:t>Clustering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3913631"/>
            <a:ext cx="2743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DBSCAN + Agglomerative</a:t>
            </a:r>
          </a:p>
        </p:txBody>
      </p:sp>
      <p:sp>
        <p:nvSpPr>
          <p:cNvPr id="24" name="Oval 23"/>
          <p:cNvSpPr/>
          <p:nvPr/>
        </p:nvSpPr>
        <p:spPr>
          <a:xfrm>
            <a:off x="8183879" y="3474720"/>
            <a:ext cx="530352" cy="530352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3538727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45643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3F"/>
                </a:solidFill>
              </a:defRPr>
            </a:pPr>
            <a:r>
              <a:t>Cluster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913631"/>
            <a:ext cx="2743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Compared segment characteristics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Clustering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Two approaches were implemented in the notebook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4983480" cy="3200400"/>
          </a:xfrm>
          <a:prstGeom prst="roundRect">
            <a:avLst/>
          </a:prstGeom>
          <a:solidFill>
            <a:srgbClr val="F4F7F9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897B"/>
                </a:solidFill>
              </a:defRPr>
            </a:pPr>
            <a:r>
              <a:t>DBSCAN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4297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D35"/>
                </a:solidFill>
              </a:defRPr>
            </a:pPr>
            <a:r>
              <a:t>Density-based clustering</a:t>
            </a:r>
          </a:p>
          <a:p>
            <a:pPr>
              <a:spcAft>
                <a:spcPts val="800"/>
              </a:spcAft>
              <a:defRPr sz="1600">
                <a:solidFill>
                  <a:srgbClr val="262D35"/>
                </a:solidFill>
              </a:defRPr>
            </a:pPr>
            <a:r>
              <a:t>Parameters: eps = 0.5; min_samples = 5</a:t>
            </a:r>
          </a:p>
          <a:p>
            <a:pPr>
              <a:spcAft>
                <a:spcPts val="800"/>
              </a:spcAft>
              <a:defRPr sz="1600">
                <a:solidFill>
                  <a:srgbClr val="262D35"/>
                </a:solidFill>
              </a:defRPr>
            </a:pPr>
            <a:r>
              <a:t>Useful for identifying dense groups and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4983480" cy="3200400"/>
          </a:xfrm>
          <a:prstGeom prst="roundRect">
            <a:avLst/>
          </a:prstGeom>
          <a:solidFill>
            <a:srgbClr val="F4F7F9"/>
          </a:solidFill>
          <a:ln>
            <a:solidFill>
              <a:srgbClr val="EF7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874519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F7E3D"/>
                </a:solidFill>
              </a:defRPr>
            </a:pPr>
            <a:r>
              <a:t>Agglomerative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560320"/>
            <a:ext cx="4297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D35"/>
                </a:solidFill>
              </a:defRPr>
            </a:pPr>
            <a:r>
              <a:t>Hierarchical clustering</a:t>
            </a:r>
          </a:p>
          <a:p>
            <a:pPr>
              <a:spcAft>
                <a:spcPts val="800"/>
              </a:spcAft>
              <a:defRPr sz="1600">
                <a:solidFill>
                  <a:srgbClr val="262D35"/>
                </a:solidFill>
              </a:defRPr>
            </a:pPr>
            <a:r>
              <a:t>Configured with n_clusters = 3</a:t>
            </a:r>
          </a:p>
          <a:p>
            <a:pPr>
              <a:spcAft>
                <a:spcPts val="800"/>
              </a:spcAft>
              <a:defRPr sz="1600">
                <a:solidFill>
                  <a:srgbClr val="262D35"/>
                </a:solidFill>
              </a:defRPr>
            </a:pPr>
            <a:r>
              <a:t>Used for the final three-segment result.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Customer Segment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Agglomerative Clustering produced three customer segments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2286000" cy="132588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011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897B"/>
                </a:solidFill>
              </a:defRPr>
            </a:pPr>
            <a:r>
              <a:t>3</a:t>
            </a:r>
          </a:p>
          <a:p>
            <a:pPr algn="ctr">
              <a:defRPr sz="1200">
                <a:solidFill>
                  <a:srgbClr val="262D35"/>
                </a:solidFill>
              </a:defRPr>
            </a:pPr>
            <a:r>
              <a:t>segments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0" y="1417320"/>
          <a:ext cx="795527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055"/>
                <a:gridCol w="1591055"/>
                <a:gridCol w="1591055"/>
                <a:gridCol w="1591055"/>
                <a:gridCol w="1591059"/>
              </a:tblGrid>
              <a:tr h="7772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Annual Income</a:t>
                      </a:r>
                    </a:p>
                  </a:txBody>
                  <a:tcPr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Purchase Frequency</a:t>
                      </a:r>
                    </a:p>
                  </a:txBody>
                  <a:tcPr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Avg. Purchase Value</a:t>
                      </a:r>
                    </a:p>
                  </a:txBody>
                  <a:tcPr>
                    <a:solidFill>
                      <a:srgbClr val="14263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Cluster 0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0.169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-0.198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0.242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0.128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Cluster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-0.342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-0.754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-0.314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0.216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Cluster 2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0.168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0.059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D35"/>
                          </a:solidFill>
                        </a:defRPr>
                      </a:pPr>
                      <a:r>
                        <a:t>-0.363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3063240"/>
            <a:ext cx="2286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How to read this</a:t>
            </a:r>
          </a:p>
          <a:p>
            <a:pPr>
              <a:defRPr sz="1300">
                <a:solidFill>
                  <a:srgbClr val="5B6773"/>
                </a:solidFill>
              </a:defRPr>
            </a:pPr>
            <a:r>
              <a:t>Values shown are standardized cluster means, not percentages or raw customer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480060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2D35"/>
                </a:solidFill>
              </a:defRPr>
            </a:pPr>
            <a:r>
              <a:t>The analysis compared income, purchase frequency, average purchase value, age, and category preference across the segments.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Segment Profile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Standardized mean profile from the documented cluster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25880"/>
          <a:ext cx="107899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585216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773"/>
                </a:solidFill>
              </a:defRPr>
            </a:pPr>
            <a:r>
              <a:t>Interpretation is relative: positive values are above the dataset mean; negative values are below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Business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What the segmentation enables GOA Supermarket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2D35"/>
                </a:solidFill>
              </a:defRPr>
            </a:pPr>
            <a:r>
              <a:t>Replace a one-size-fits-all customer view with three data-driven groups.</a:t>
            </a:r>
          </a:p>
          <a:p>
            <a:pPr>
              <a:spcAft>
                <a:spcPts val="1000"/>
              </a:spcAft>
              <a:defRPr sz="1900">
                <a:solidFill>
                  <a:srgbClr val="262D35"/>
                </a:solidFill>
              </a:defRPr>
            </a:pPr>
            <a:r>
              <a:t>Design differentiated promotional strategies around segment characteristics.</a:t>
            </a:r>
          </a:p>
          <a:p>
            <a:pPr>
              <a:spcAft>
                <a:spcPts val="1000"/>
              </a:spcAft>
              <a:defRPr sz="1900">
                <a:solidFill>
                  <a:srgbClr val="262D35"/>
                </a:solidFill>
              </a:defRPr>
            </a:pPr>
            <a:r>
              <a:t>Tailor customer-engagement approaches to observed purchasing patterns.</a:t>
            </a:r>
          </a:p>
          <a:p>
            <a:pPr>
              <a:spcAft>
                <a:spcPts val="1000"/>
              </a:spcAft>
              <a:defRPr sz="1900">
                <a:solidFill>
                  <a:srgbClr val="262D35"/>
                </a:solidFill>
              </a:defRPr>
            </a:pPr>
            <a:r>
              <a:t>Support customer-retention planning with a structured view of customer types.</a:t>
            </a:r>
          </a:p>
          <a:p>
            <a:pPr>
              <a:spcAft>
                <a:spcPts val="1000"/>
              </a:spcAft>
              <a:defRPr sz="1900">
                <a:solidFill>
                  <a:srgbClr val="262D35"/>
                </a:solidFill>
              </a:defRPr>
            </a:pPr>
            <a:r>
              <a:t>Provide management with a clearer analytical framework for purchasing behavior.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</a:defRPr>
            </a:pPr>
            <a:r>
              <a:t>Tools &amp; Technical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3"/>
                </a:solidFill>
              </a:defRPr>
            </a:pPr>
            <a:r>
              <a:t>Reproducible analysis in Python and Jupyter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242316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1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3F"/>
                </a:solidFill>
              </a:defRPr>
            </a:pPr>
            <a:r>
              <a:t>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79" y="1508760"/>
            <a:ext cx="242316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673351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3F"/>
                </a:solidFill>
              </a:defRPr>
            </a:pPr>
            <a:r>
              <a:t>Pandas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242316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73351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3F"/>
                </a:solidFill>
              </a:defRPr>
            </a:pPr>
            <a:r>
              <a:t>NumPy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19" y="1508760"/>
            <a:ext cx="242316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59" y="1673351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3F"/>
                </a:solidFill>
              </a:defRPr>
            </a:pPr>
            <a:r>
              <a:t>Scikit-learn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51760"/>
            <a:ext cx="242316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3F"/>
                </a:solidFill>
              </a:defRPr>
            </a:pPr>
            <a:r>
              <a:t>Matplotlib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79" y="2651760"/>
            <a:ext cx="242316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81635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3F"/>
                </a:solidFill>
              </a:defRPr>
            </a:pPr>
            <a:r>
              <a:t>Seaborn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242316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81635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63F"/>
                </a:solidFill>
              </a:defRPr>
            </a:pPr>
            <a:r>
              <a:t>Jupyter Notebook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241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897B"/>
                </a:solidFill>
              </a:defRPr>
            </a:pPr>
            <a:r>
              <a:t>Core workflow</a:t>
            </a:r>
          </a:p>
          <a:p>
            <a:pPr>
              <a:defRPr sz="1800">
                <a:solidFill>
                  <a:srgbClr val="262D35"/>
                </a:solidFill>
              </a:defRPr>
            </a:pPr>
            <a:r>
              <a:t>Prepare data → standardize/encode → cluster → inspect cluster counts → analyze segment characteristics → visualize → translate into business 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A structured customer-segmentation analysis based on 100 GOA Supermarket customer records.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Three customer segments identified through the implemented Agglomerative Clustering model.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Segment differences examined across demographic and purchasing variables.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A practical analytical foundation for differentiated marketing, customer engagement, and retention planning.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6928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D7D7"/>
                </a:solidFill>
              </a:defRPr>
            </a:pPr>
            <a:r>
              <a:t>GOA Supermarket | Customer Clustering &amp; Purchasing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